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5" r:id="rId5"/>
    <p:sldId id="259" r:id="rId6"/>
    <p:sldId id="260" r:id="rId7"/>
    <p:sldId id="262" r:id="rId8"/>
    <p:sldId id="277" r:id="rId9"/>
    <p:sldId id="276" r:id="rId10"/>
    <p:sldId id="264" r:id="rId11"/>
    <p:sldId id="265" r:id="rId12"/>
    <p:sldId id="266" r:id="rId13"/>
    <p:sldId id="27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52" d="100"/>
          <a:sy n="52" d="100"/>
        </p:scale>
        <p:origin x="13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thi suresh" userId="a512b111772c2c13" providerId="LiveId" clId="{ABE870D2-5A77-478C-8F9F-07B403730F7C}"/>
    <pc:docChg chg="undo custSel modSld">
      <pc:chgData name="swathi suresh" userId="a512b111772c2c13" providerId="LiveId" clId="{ABE870D2-5A77-478C-8F9F-07B403730F7C}" dt="2026-01-09T05:33:39.792" v="4" actId="255"/>
      <pc:docMkLst>
        <pc:docMk/>
      </pc:docMkLst>
      <pc:sldChg chg="modSp mod">
        <pc:chgData name="swathi suresh" userId="a512b111772c2c13" providerId="LiveId" clId="{ABE870D2-5A77-478C-8F9F-07B403730F7C}" dt="2026-01-09T05:33:39.792" v="4" actId="255"/>
        <pc:sldMkLst>
          <pc:docMk/>
          <pc:sldMk cId="2281821140" sldId="256"/>
        </pc:sldMkLst>
        <pc:spChg chg="mod">
          <ac:chgData name="swathi suresh" userId="a512b111772c2c13" providerId="LiveId" clId="{ABE870D2-5A77-478C-8F9F-07B403730F7C}" dt="2026-01-09T05:33:39.792" v="4" actId="255"/>
          <ac:spMkLst>
            <pc:docMk/>
            <pc:sldMk cId="2281821140" sldId="256"/>
            <ac:spMk id="3" creationId="{BF885835-ED2B-5856-B343-C654984832EF}"/>
          </ac:spMkLst>
        </pc:spChg>
        <pc:spChg chg="mod">
          <ac:chgData name="swathi suresh" userId="a512b111772c2c13" providerId="LiveId" clId="{ABE870D2-5A77-478C-8F9F-07B403730F7C}" dt="2026-01-09T05:33:17.486" v="3" actId="255"/>
          <ac:spMkLst>
            <pc:docMk/>
            <pc:sldMk cId="2281821140" sldId="256"/>
            <ac:spMk id="7" creationId="{1697D6A6-6B19-C900-633E-57460DBC8F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55D7D-B736-43BA-9E3C-4C7AFA91807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4CBD7-9743-41D6-817A-8315DA5EF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010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4CBD7-9743-41D6-817A-8315DA5EF36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882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4CBD7-9743-41D6-817A-8315DA5EF368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286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959F9-0F69-7138-92F0-74A3780F0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DD6EA-D1AC-0A48-6A9F-04071D9A0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7A89B-B66C-15D9-4791-754767922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EEDF-AE31-4BE9-AF11-4703F142946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68611-6119-3902-B524-3703A454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3C1D4-5F93-9BF3-11ED-F87EED78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D594D-FD96-476E-BBC7-34BF8C7C8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383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EE5FC-AD75-286B-F303-E8405E3C3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23C4E-4464-BAD3-71ED-E2B64D84C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073BC-5CC7-482E-67AB-65A0B36A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EEDF-AE31-4BE9-AF11-4703F142946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7FFFE-43CF-F0A4-0552-E20143CE0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231DB-052D-3C64-DAB2-531BF4E2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D594D-FD96-476E-BBC7-34BF8C7C8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201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93E7A-F60E-2BF2-5BC0-4A8A49126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F3686-B73F-BD5E-2E71-20F9A9C94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9D284-A912-0956-4A27-8217287CD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EEDF-AE31-4BE9-AF11-4703F142946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057E9-B714-7226-9A4F-1EB4E7390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73A96-6598-02C9-345F-F36E4689E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D594D-FD96-476E-BBC7-34BF8C7C8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182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C07A-592A-C980-C539-2485F4A6B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D3C2E-6B1D-DBD0-A78C-E339081CDD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52363-5875-E24D-2967-ACBDB2725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299F2-C83F-D228-8972-E3D59A3A6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EEDF-AE31-4BE9-AF11-4703F142946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25418-9AB5-A53A-2B2C-607D4BD35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92F1F6-2ADE-0ECC-C86E-945FD0986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D594D-FD96-476E-BBC7-34BF8C7C8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855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57309-4378-BD19-065D-3279F60A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BDD90-FD2A-579A-A67D-11F96C19E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968FB3-0942-9D9C-BBA9-026D62773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9065FC-9EAC-3765-C39A-02674846B6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A7CBD5-9B86-A1E6-6248-7C05A60F4F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35B824-7404-1B7F-63A6-F4D4EE30F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EEDF-AE31-4BE9-AF11-4703F142946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AA93AE-D275-A395-CEEA-06E10680D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1F8324-DC07-087F-2873-31730F97C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D594D-FD96-476E-BBC7-34BF8C7C8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565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A1BD0-7793-FCB4-42FA-1AF0A3876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0468C-7670-F739-48AF-33182BED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EEDF-AE31-4BE9-AF11-4703F142946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78A2A-8E9D-51A9-656D-09C2D1212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3B72B3-4640-CD75-DD94-70CADC23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D594D-FD96-476E-BBC7-34BF8C7C8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912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3D6481-CD4E-41F0-A0A7-4C5FF36B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EEDF-AE31-4BE9-AF11-4703F142946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5A483D-9360-3DEC-78A9-DAC2D2EC5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B2BB4-0F3F-1B78-B5B7-D1B12104C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D594D-FD96-476E-BBC7-34BF8C7C8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271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C599E-1D85-61F1-FD7E-B47FB626E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68956-3896-F6F4-56DB-82AC0DF94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73C39-EC4F-528E-0791-61EBE7698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83612-11D5-7C59-D499-0EFA9849D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EEDF-AE31-4BE9-AF11-4703F142946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5920E-FB18-10C8-42C8-E57AD41E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70BAB-6A2C-5CD3-DC5C-7B1D0BFEC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D594D-FD96-476E-BBC7-34BF8C7C8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520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DA491-8742-5BD3-8083-1E2A4814E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D06B46-B007-349C-4B7B-A666D86DB7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DDE3B3-612E-7C54-49E4-0B9ECD46D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3CA27-DAB8-D6DB-4086-54840F8C4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EEDF-AE31-4BE9-AF11-4703F142946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81CEF6-380C-FF1F-EFB9-2F02E1A88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FC979-AED6-7780-466A-320A2A7B8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D594D-FD96-476E-BBC7-34BF8C7C8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645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15B7F-9A82-EF20-EA3E-9A05045CD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244724-DE92-31F6-976E-770BC1C8F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B72F3-979D-BB9C-742B-4E3CEBDF1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EEDF-AE31-4BE9-AF11-4703F142946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550F0-4C4C-5119-3F5E-469EEC3F3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59AE3-8BDD-270F-B011-052AAC48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D594D-FD96-476E-BBC7-34BF8C7C8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373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BA3B7-6C81-DF20-4396-540FED9029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747C31-68E5-023E-255D-1E59FDCF3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23CDF-D4BD-3F96-AD0E-B1334D3B9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EEDF-AE31-4BE9-AF11-4703F142946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49DA8-BAD9-E8DE-31C0-249C4BF41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B6C0A-686C-7A6D-708C-E6724B886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D594D-FD96-476E-BBC7-34BF8C7C8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594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3314BB-120C-4A5A-9A82-A40AAF3EE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C752E-38AB-2C86-A278-00AF40625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0D528-5EAB-C653-DB2B-0A00EA46CB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E2EEDF-AE31-4BE9-AF11-4703F142946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2A4C3-7C17-FC3C-B566-85DF97B78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A0DE8-0706-AAFD-DC30-3421C9E93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FD594D-FD96-476E-BBC7-34BF8C7C8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777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2A132-3657-3152-E5A5-38397E8640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Course Recommendation System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885835-ED2B-5856-B343-C65498483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5921" y="3312160"/>
            <a:ext cx="4610674" cy="2423477"/>
          </a:xfrm>
        </p:spPr>
        <p:txBody>
          <a:bodyPr>
            <a:normAutofit fontScale="25000" lnSpcReduction="20000"/>
          </a:bodyPr>
          <a:lstStyle/>
          <a:p>
            <a:r>
              <a:rPr lang="en-IN" sz="1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•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ESLAVATH UPENDAR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• NITHIN VUDIKALA</a:t>
            </a:r>
          </a:p>
          <a:p>
            <a:endParaRPr lang="en-IN" sz="2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1200" b="1" dirty="0"/>
              <a:t>								</a:t>
            </a:r>
            <a:r>
              <a:rPr lang="en-IN" sz="6400" dirty="0"/>
              <a:t>	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EEE7E8-98F5-9999-5A0A-F4AAF03CB0FD}"/>
              </a:ext>
            </a:extLst>
          </p:cNvPr>
          <p:cNvSpPr/>
          <p:nvPr/>
        </p:nvSpPr>
        <p:spPr>
          <a:xfrm>
            <a:off x="462116" y="344129"/>
            <a:ext cx="11267768" cy="608616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368DEA-F519-B8F6-30EB-3A02EA5ED18B}"/>
              </a:ext>
            </a:extLst>
          </p:cNvPr>
          <p:cNvSpPr txBox="1"/>
          <p:nvPr/>
        </p:nvSpPr>
        <p:spPr>
          <a:xfrm>
            <a:off x="1118920" y="301788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  <a:r>
              <a:rPr lang="en-IN" b="0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b="0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ADHVAITH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97D6A6-6B19-C900-633E-57460DBC8FE7}"/>
              </a:ext>
            </a:extLst>
          </p:cNvPr>
          <p:cNvSpPr txBox="1"/>
          <p:nvPr/>
        </p:nvSpPr>
        <p:spPr>
          <a:xfrm>
            <a:off x="8288595" y="43275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MEGHANA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SRIKANTH C 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SWATHI 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RISHITHA</a:t>
            </a:r>
          </a:p>
        </p:txBody>
      </p:sp>
    </p:spTree>
    <p:extLst>
      <p:ext uri="{BB962C8B-B14F-4D97-AF65-F5344CB8AC3E}">
        <p14:creationId xmlns:p14="http://schemas.microsoft.com/office/powerpoint/2010/main" val="2281821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1C774-5BE8-D89D-69B9-6D8B81138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153192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5172C-D65A-F9C3-CFC5-2CBA09985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780" y="161069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analyze the online course dataset and understand key patterns through Exploratory Data Analysis (EDA).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a recommendation system that suggests relevant courses to learners.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analyze user engagement, ratings, and course attributes.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support personalized learning by providing accurate course recommendations.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3A72DF-E32F-AE2A-44EA-F96D829C196A}"/>
              </a:ext>
            </a:extLst>
          </p:cNvPr>
          <p:cNvSpPr/>
          <p:nvPr/>
        </p:nvSpPr>
        <p:spPr>
          <a:xfrm>
            <a:off x="471948" y="285135"/>
            <a:ext cx="11297265" cy="620774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697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466D-9B4E-E58A-2694-4D60FFD8A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77" y="365125"/>
            <a:ext cx="10380406" cy="1189703"/>
          </a:xfrm>
        </p:spPr>
        <p:txBody>
          <a:bodyPr>
            <a:noAutofit/>
          </a:bodyPr>
          <a:lstStyle/>
          <a:p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Details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259E2-4441-958A-586C-E70871A2B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46" y="1329424"/>
            <a:ext cx="10515600" cy="4351338"/>
          </a:xfrm>
          <a:noFill/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dataset contains user interaction and course-related information used for course recommendation.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Total Records: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100,000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Total Features: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Feature Types: Mix of numerical and categorical attributes.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Dataset supports recommendation system modeling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4707D2-11AA-3731-3AE4-61A98FFCC8D0}"/>
              </a:ext>
            </a:extLst>
          </p:cNvPr>
          <p:cNvSpPr/>
          <p:nvPr/>
        </p:nvSpPr>
        <p:spPr>
          <a:xfrm>
            <a:off x="467032" y="365125"/>
            <a:ext cx="11213691" cy="612416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33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F10FC-DD31-E749-2388-3EC0434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7" y="457200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the Dataset: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FD21C-F4C4-E87D-0342-42E9349F9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02" y="1391161"/>
            <a:ext cx="10707329" cy="473433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Information: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user_id, previous_courses_taken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Information: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course_id, course_name, instructor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Attributes: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course_duration_hours, difficulty_level, certification_offered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Metrics: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time_spent_hours, enrollment_numbers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Metrics: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rating, feedback_score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Details: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course_price, study_material_available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8DAE8B-981C-FB95-44BD-6CAF257DDD31}"/>
              </a:ext>
            </a:extLst>
          </p:cNvPr>
          <p:cNvSpPr/>
          <p:nvPr/>
        </p:nvSpPr>
        <p:spPr>
          <a:xfrm>
            <a:off x="501445" y="365125"/>
            <a:ext cx="11120284" cy="603567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534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D73E9-E2A2-B4B0-78F6-2B4AB03FB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6" y="427319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18A16-03E1-2F98-3CAA-7FCE6C2BF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1406013"/>
            <a:ext cx="10803194" cy="4770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objective is to recommend suitable online courses to learners based on their interests and engagement.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Helps users choose relevant courses efficiently.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Improves personalized learning experience.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is a recommendation system problem.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552FAA-55FC-0073-80AF-96F294065DA8}"/>
              </a:ext>
            </a:extLst>
          </p:cNvPr>
          <p:cNvSpPr/>
          <p:nvPr/>
        </p:nvSpPr>
        <p:spPr>
          <a:xfrm>
            <a:off x="403123" y="275303"/>
            <a:ext cx="11366090" cy="621757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331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49515-0A7D-1516-F87E-1D7243B06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562" y="316859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Analysis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31933-897E-F0A8-219F-B8CAD4758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8361"/>
            <a:ext cx="10515600" cy="493579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dataset was checked for missing values across all features.</a:t>
            </a:r>
          </a:p>
          <a:p>
            <a:pPr marL="0" indent="0">
              <a:buNone/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missing values were found in any column.</a:t>
            </a:r>
          </a:p>
          <a:p>
            <a:pPr marL="0" indent="0">
              <a:buNone/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 records are complete and consistent.</a:t>
            </a:r>
          </a:p>
          <a:p>
            <a:pPr marL="0" indent="0">
              <a:buNone/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imputation or data removal was required.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8F07CA-4CC3-4E16-D9CD-96FE58A3D8BA}"/>
              </a:ext>
            </a:extLst>
          </p:cNvPr>
          <p:cNvSpPr/>
          <p:nvPr/>
        </p:nvSpPr>
        <p:spPr>
          <a:xfrm>
            <a:off x="432619" y="447040"/>
            <a:ext cx="11292021" cy="60458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030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3D3FD-27B5-044F-1848-ACA635EA6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599768"/>
            <a:ext cx="9733934" cy="658762"/>
          </a:xfrm>
        </p:spPr>
        <p:txBody>
          <a:bodyPr>
            <a:normAutofit fontScale="90000"/>
          </a:bodyPr>
          <a:lstStyle/>
          <a:p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Distribution: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52E45C-25BF-BDDA-D00B-4C02E8999CEE}"/>
              </a:ext>
            </a:extLst>
          </p:cNvPr>
          <p:cNvSpPr/>
          <p:nvPr/>
        </p:nvSpPr>
        <p:spPr>
          <a:xfrm>
            <a:off x="486697" y="296942"/>
            <a:ext cx="11218606" cy="621757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675D78-00FA-68A1-242F-B0C27DBF338C}"/>
              </a:ext>
            </a:extLst>
          </p:cNvPr>
          <p:cNvSpPr txBox="1"/>
          <p:nvPr/>
        </p:nvSpPr>
        <p:spPr>
          <a:xfrm>
            <a:off x="594852" y="4564965"/>
            <a:ext cx="1117436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Shows the distribution of  numerical features and categorical in the dataset.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Most features show varied distributions with different ranges and spreads.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Some features are skewed, indicating differences in learner behavior and course characteristics.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Distribution analysis helps understand data spread before model building.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E8E200-4BB4-2EF2-D104-CE17204382D9}"/>
              </a:ext>
            </a:extLst>
          </p:cNvPr>
          <p:cNvSpPr/>
          <p:nvPr/>
        </p:nvSpPr>
        <p:spPr>
          <a:xfrm>
            <a:off x="594852" y="1012723"/>
            <a:ext cx="10913806" cy="358391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C012D3-9159-B9C7-6EED-6CA7BE0942C6}"/>
              </a:ext>
            </a:extLst>
          </p:cNvPr>
          <p:cNvCxnSpPr/>
          <p:nvPr/>
        </p:nvCxnSpPr>
        <p:spPr>
          <a:xfrm>
            <a:off x="3234380" y="1012723"/>
            <a:ext cx="0" cy="358391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9F2F8E3-EB22-EBB6-293B-02E5B792537B}"/>
              </a:ext>
            </a:extLst>
          </p:cNvPr>
          <p:cNvCxnSpPr>
            <a:cxnSpLocks/>
          </p:cNvCxnSpPr>
          <p:nvPr/>
        </p:nvCxnSpPr>
        <p:spPr>
          <a:xfrm>
            <a:off x="7089057" y="960821"/>
            <a:ext cx="0" cy="363581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237ED7A-488D-52A1-69D8-2DCE7195CB90}"/>
              </a:ext>
            </a:extLst>
          </p:cNvPr>
          <p:cNvCxnSpPr>
            <a:cxnSpLocks/>
          </p:cNvCxnSpPr>
          <p:nvPr/>
        </p:nvCxnSpPr>
        <p:spPr>
          <a:xfrm>
            <a:off x="616949" y="3009195"/>
            <a:ext cx="10891709" cy="14432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 prst="relaxedInset"/>
            <a:bevelB prst="angle"/>
          </a:sp3d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32" name="Picture 8">
            <a:extLst>
              <a:ext uri="{FF2B5EF4-FFF2-40B4-BE49-F238E27FC236}">
                <a16:creationId xmlns:a16="http://schemas.microsoft.com/office/drawing/2014/main" id="{D8DD552B-C925-ED53-ED17-91A53CDE3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50" y="1022834"/>
            <a:ext cx="2617430" cy="19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14C383DC-638C-96E1-BFF1-E9E866C35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8625" y="1031628"/>
            <a:ext cx="3810432" cy="1951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1BDBE328-3CF0-B643-504D-B5B85E96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50" y="3009195"/>
            <a:ext cx="2617429" cy="1587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8B13D1-473B-A371-E84A-FF6A4AAA1E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5" t="24373" r="39275" b="23368"/>
          <a:stretch>
            <a:fillRect/>
          </a:stretch>
        </p:blipFill>
        <p:spPr>
          <a:xfrm>
            <a:off x="7133301" y="1022343"/>
            <a:ext cx="4375357" cy="35839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E00BD2-FC00-6BB1-DA14-836629BD11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7" t="26802" r="38710" b="17419"/>
          <a:stretch>
            <a:fillRect/>
          </a:stretch>
        </p:blipFill>
        <p:spPr>
          <a:xfrm>
            <a:off x="3254045" y="3009195"/>
            <a:ext cx="3835006" cy="155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024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9E9B5-FEE0-90B1-D6F6-052A7745D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5175"/>
            <a:ext cx="5319409" cy="450317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Shows the correlation between numerical features in the dataset.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Most features have weak to moderate correlation with each other.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Engagement-related features such as rating, feedback score, and time spent show positive relationships.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Low strong correlation indicates minimal feature redundancy.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Correlation analysis helps understand feature relationships before model building.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F06A40-633A-2904-255F-207B51C3FBDD}"/>
              </a:ext>
            </a:extLst>
          </p:cNvPr>
          <p:cNvSpPr/>
          <p:nvPr/>
        </p:nvSpPr>
        <p:spPr>
          <a:xfrm>
            <a:off x="639096" y="365125"/>
            <a:ext cx="10913807" cy="605534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utoShape 2" descr="Output image">
            <a:extLst>
              <a:ext uri="{FF2B5EF4-FFF2-40B4-BE49-F238E27FC236}">
                <a16:creationId xmlns:a16="http://schemas.microsoft.com/office/drawing/2014/main" id="{BCD020AA-F2F9-2E64-5759-29530E2E1873}"/>
              </a:ext>
            </a:extLst>
          </p:cNvPr>
          <p:cNvSpPr>
            <a:spLocks noGrp="1" noChangeAspect="1" noChangeArrowheads="1"/>
          </p:cNvSpPr>
          <p:nvPr>
            <p:ph type="title"/>
          </p:nvPr>
        </p:nvSpPr>
        <p:spPr bwMode="auto">
          <a:xfrm>
            <a:off x="838199" y="565790"/>
            <a:ext cx="10515600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Matrix:</a:t>
            </a:r>
            <a:br>
              <a:rPr lang="en-IN" dirty="0"/>
            </a:b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D9C6AD-B694-13BE-E086-7AEDEC647D23}"/>
              </a:ext>
            </a:extLst>
          </p:cNvPr>
          <p:cNvSpPr/>
          <p:nvPr/>
        </p:nvSpPr>
        <p:spPr>
          <a:xfrm>
            <a:off x="6223819" y="1022555"/>
            <a:ext cx="5211097" cy="472178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CD61934-A834-064C-A0B9-F4E4BA3CF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709" y="1145282"/>
            <a:ext cx="4923503" cy="447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4079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5EA9A-ED26-5546-483D-3F2DF2218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54677" cy="80491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1DE12-698B-A943-AD3C-EF01FB751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0" y="1253331"/>
            <a:ext cx="10704871" cy="48721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outlier :</a:t>
            </a:r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A6BF3F-9516-70F1-FFDA-A1D172A26D63}"/>
              </a:ext>
            </a:extLst>
          </p:cNvPr>
          <p:cNvSpPr/>
          <p:nvPr/>
        </p:nvSpPr>
        <p:spPr>
          <a:xfrm>
            <a:off x="560441" y="368402"/>
            <a:ext cx="11137490" cy="613399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575051-C522-5B91-4403-A7233E4487A3}"/>
              </a:ext>
            </a:extLst>
          </p:cNvPr>
          <p:cNvSpPr/>
          <p:nvPr/>
        </p:nvSpPr>
        <p:spPr>
          <a:xfrm>
            <a:off x="707922" y="1281865"/>
            <a:ext cx="10707329" cy="48768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E96C9D-82DD-1AAE-147A-28BA7D1B8426}"/>
              </a:ext>
            </a:extLst>
          </p:cNvPr>
          <p:cNvCxnSpPr>
            <a:stCxn id="5" idx="0"/>
            <a:endCxn id="3" idx="2"/>
          </p:cNvCxnSpPr>
          <p:nvPr/>
        </p:nvCxnSpPr>
        <p:spPr>
          <a:xfrm>
            <a:off x="6061587" y="1281865"/>
            <a:ext cx="1229" cy="48436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DD4A2EC-5AAB-76B3-7B5C-B1E431E9DCEA}"/>
              </a:ext>
            </a:extLst>
          </p:cNvPr>
          <p:cNvSpPr txBox="1"/>
          <p:nvPr/>
        </p:nvSpPr>
        <p:spPr>
          <a:xfrm>
            <a:off x="6061587" y="1253331"/>
            <a:ext cx="6095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8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en-IN" sz="2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Outlier :</a:t>
            </a:r>
            <a:endParaRPr lang="en-IN" sz="2400" b="1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2DFFCF-918A-6C74-46D1-E311DD634357}"/>
              </a:ext>
            </a:extLst>
          </p:cNvPr>
          <p:cNvSpPr txBox="1"/>
          <p:nvPr/>
        </p:nvSpPr>
        <p:spPr>
          <a:xfrm>
            <a:off x="6129186" y="4127340"/>
            <a:ext cx="51368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D88B50-B259-FD6E-C305-119208DA8882}"/>
              </a:ext>
            </a:extLst>
          </p:cNvPr>
          <p:cNvCxnSpPr/>
          <p:nvPr/>
        </p:nvCxnSpPr>
        <p:spPr>
          <a:xfrm>
            <a:off x="707922" y="1776551"/>
            <a:ext cx="53536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1D64D2-6629-BDBD-2507-AC09E495D67D}"/>
              </a:ext>
            </a:extLst>
          </p:cNvPr>
          <p:cNvCxnSpPr>
            <a:cxnSpLocks/>
          </p:cNvCxnSpPr>
          <p:nvPr/>
        </p:nvCxnSpPr>
        <p:spPr>
          <a:xfrm>
            <a:off x="708118" y="3766346"/>
            <a:ext cx="5334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utoShape 2" descr="Output image">
            <a:extLst>
              <a:ext uri="{FF2B5EF4-FFF2-40B4-BE49-F238E27FC236}">
                <a16:creationId xmlns:a16="http://schemas.microsoft.com/office/drawing/2014/main" id="{01D49AE4-E9D3-5B7D-BB0F-D4709759E9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AutoShape 4" descr="Output image">
            <a:extLst>
              <a:ext uri="{FF2B5EF4-FFF2-40B4-BE49-F238E27FC236}">
                <a16:creationId xmlns:a16="http://schemas.microsoft.com/office/drawing/2014/main" id="{37E962CC-350D-6444-815D-FE02185AD6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64B3D45-0C83-5110-CF48-E8F4BB35C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034" y="1818934"/>
            <a:ext cx="5265370" cy="1947411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022C070-6F4A-B409-FD58-195D93537B14}"/>
              </a:ext>
            </a:extLst>
          </p:cNvPr>
          <p:cNvCxnSpPr>
            <a:cxnSpLocks/>
          </p:cNvCxnSpPr>
          <p:nvPr/>
        </p:nvCxnSpPr>
        <p:spPr>
          <a:xfrm>
            <a:off x="6094770" y="1776551"/>
            <a:ext cx="53341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99A36BA-7CD8-F8C6-865D-C05A770A506D}"/>
              </a:ext>
            </a:extLst>
          </p:cNvPr>
          <p:cNvCxnSpPr>
            <a:cxnSpLocks/>
            <a:endCxn id="5" idx="3"/>
          </p:cNvCxnSpPr>
          <p:nvPr/>
        </p:nvCxnSpPr>
        <p:spPr>
          <a:xfrm flipV="1">
            <a:off x="6061587" y="3720265"/>
            <a:ext cx="5353664" cy="63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7B27D86B-901D-5F31-273C-F7D2A0F7E0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9186" y="1802257"/>
            <a:ext cx="5247966" cy="196007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F767C04-DA23-E3E7-8272-AA19EB8AE3BA}"/>
              </a:ext>
            </a:extLst>
          </p:cNvPr>
          <p:cNvSpPr txBox="1"/>
          <p:nvPr/>
        </p:nvSpPr>
        <p:spPr>
          <a:xfrm>
            <a:off x="694207" y="3798629"/>
            <a:ext cx="534668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Several numerical features show the presence of extreme values.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Features such as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rating, feedback_score, time_spent_hours,                                                                                                                               previous_courses_taken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 visible outliers.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Outliers increase data spread and skew distributions.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Presence of extreme values may affect model learning and performance.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Outlier detection helps identify irregular patterns in the data.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B31C66-100E-F687-9314-9D53A9C8EC6F}"/>
              </a:ext>
            </a:extLst>
          </p:cNvPr>
          <p:cNvSpPr txBox="1"/>
          <p:nvPr/>
        </p:nvSpPr>
        <p:spPr>
          <a:xfrm>
            <a:off x="6081250" y="3844466"/>
            <a:ext cx="531556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Outliers were treated to reduce the effect of extreme values.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distributions became more compact and stable.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Reduced skewness observed in features like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and feedback_score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 tendencies are more clearly represented after treatment.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Outlier removal helps improve model robustness and consistency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512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76DE7-9AC6-C6A2-FC84-10B6F67FA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877" y="540774"/>
            <a:ext cx="10164097" cy="144534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r>
              <a:rPr lang="en-IN" b="1" dirty="0"/>
              <a:t>: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13FED-6E3C-86EE-958F-7425CA1C9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877" y="1042220"/>
            <a:ext cx="10515600" cy="47003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dataset was reviewed for data quality and consistency.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missing values were found across any of the features.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Categorical variables were converted into numerical format for model compatibility.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Numerical features were scaled to maintain a uniform range.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Outliers were identified and treated to reduce the impact of extreme values.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final processed dataset was prepared for model building.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F0AA63-41EE-0DC1-4D4B-770BC56FCC15}"/>
              </a:ext>
            </a:extLst>
          </p:cNvPr>
          <p:cNvSpPr/>
          <p:nvPr/>
        </p:nvSpPr>
        <p:spPr>
          <a:xfrm>
            <a:off x="452284" y="353961"/>
            <a:ext cx="11336593" cy="605667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529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05AB-AD6F-FF57-3C0D-E18B87995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Building: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65CAF-7DEB-FA2A-8239-7D513863E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916" y="1494503"/>
            <a:ext cx="10586884" cy="46824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Different recommendation approaches were explored during model development.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Filtering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studied to understand recommendations based on similar user behavior.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Filtering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analyzed using course attributes and user preferences.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Recommendation approach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reviewed by combining multiple recommendation methods.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Popularity-Based Recommendation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built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ratings, enrollment numbers, and feedback scores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rank courses.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C1EA8C-9212-3CF1-979F-0B979322360A}"/>
              </a:ext>
            </a:extLst>
          </p:cNvPr>
          <p:cNvSpPr/>
          <p:nvPr/>
        </p:nvSpPr>
        <p:spPr>
          <a:xfrm>
            <a:off x="412955" y="365125"/>
            <a:ext cx="11179277" cy="612775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992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494EE-41A7-E6BE-DBEC-85DB1BF06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0774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740F3-A3E6-E543-D30C-3957EF6DB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9535"/>
            <a:ext cx="10515599" cy="494562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evaluation was performed based on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of course recommendations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Recommended courses were compared against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ratings and engagement patterns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Courses with higher ratings and feedback scores were ranked higher in recommendations.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Users with more historical interactions received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accurate and relevant recommendations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Performance was limited for new users due to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cold-start problem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952B23-A960-D54C-F238-0AEF60E16E86}"/>
              </a:ext>
            </a:extLst>
          </p:cNvPr>
          <p:cNvSpPr/>
          <p:nvPr/>
        </p:nvSpPr>
        <p:spPr>
          <a:xfrm>
            <a:off x="432619" y="344129"/>
            <a:ext cx="11169446" cy="613532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837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AC726-8BAB-2DC0-B01C-2831CD76B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975" y="365125"/>
            <a:ext cx="5836638" cy="68692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Model Selection: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794C9-D29E-9EC0-5440-0EFD1AAC5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975" y="4542503"/>
            <a:ext cx="10602825" cy="163445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Multiple recommendation models were evaluated using error-based metrics.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performance was compared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(Root Mean Squared Error)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(Mean Absolute Error)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Popularity-Based Recommendation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RMSE of 0.7122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Popularity model also achieved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MAE of 0.5896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Lower RMSE and MAE indicate better prediction accuracy and stability.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Compared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CF, Deep MF, and SVD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Popularity model performed the best.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Hence,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Popularity-Based model was selected as the final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326D1B-424B-1324-C87B-8736AB2BA21B}"/>
              </a:ext>
            </a:extLst>
          </p:cNvPr>
          <p:cNvSpPr/>
          <p:nvPr/>
        </p:nvSpPr>
        <p:spPr>
          <a:xfrm>
            <a:off x="589935" y="275303"/>
            <a:ext cx="11061291" cy="606650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CA0092-AD25-62CD-60A0-128EA9E73C83}"/>
              </a:ext>
            </a:extLst>
          </p:cNvPr>
          <p:cNvSpPr/>
          <p:nvPr/>
        </p:nvSpPr>
        <p:spPr>
          <a:xfrm>
            <a:off x="750975" y="1141874"/>
            <a:ext cx="10515600" cy="323798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53F1BF-1CE9-5D15-BE79-01718403389F}"/>
              </a:ext>
            </a:extLst>
          </p:cNvPr>
          <p:cNvCxnSpPr/>
          <p:nvPr/>
        </p:nvCxnSpPr>
        <p:spPr>
          <a:xfrm>
            <a:off x="6430297" y="1157639"/>
            <a:ext cx="0" cy="320645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D5761298-807A-315B-4927-4C8C8DFD0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976" y="1157640"/>
            <a:ext cx="5679322" cy="3220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776B199-F7C6-E38B-6352-D764ACCF7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590" y="1157639"/>
            <a:ext cx="4819683" cy="3206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5081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FD618-2889-ECE2-EFC9-9ED998A3D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C106A-EDFC-37B8-4DDD-C0D41B204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511"/>
            <a:ext cx="10203426" cy="404105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personalized recommendations due to the popularity-based approach.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Same popular courses are recommended to all users.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New or less-enrolled courses receive low visibility.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Recommendations depend heavily on ratings and enrollment numbers.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Difficulty in maintaining diversity among recommended courses.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does not consider individual user preferences or learning history.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F0E0DA-99BE-BBF2-5FD5-EC10BC3EE7EE}"/>
              </a:ext>
            </a:extLst>
          </p:cNvPr>
          <p:cNvSpPr/>
          <p:nvPr/>
        </p:nvSpPr>
        <p:spPr>
          <a:xfrm>
            <a:off x="449662" y="365125"/>
            <a:ext cx="11149781" cy="619432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5088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6ADB3-F4B4-D26C-3733-969BBBE09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0881F-999E-E613-7EA1-0D6ECD331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174"/>
            <a:ext cx="10515600" cy="472178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Course popularity is strongly influenced by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and enrollment numbers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Highly rated courses tend to have higher learner engagement.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Popular courses are consistently preferred by a large number of users.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Popularity-based ranking provides stable and reliable recommendations.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Feedback score helps identify well-received courses.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approach works effectively even without individual user history.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82DCC4-7B27-4CC1-1160-B5122F22FF82}"/>
              </a:ext>
            </a:extLst>
          </p:cNvPr>
          <p:cNvSpPr/>
          <p:nvPr/>
        </p:nvSpPr>
        <p:spPr>
          <a:xfrm>
            <a:off x="589280" y="365125"/>
            <a:ext cx="11054080" cy="612775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825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C8C7F-B54A-9678-F10E-46604247F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FB439-584E-E577-7BCB-EF0DD9AB4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20" y="1278193"/>
            <a:ext cx="10515600" cy="486927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Enhance the system by incorporating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filtering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consider user behavior and preferences.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Combine popularity-based approach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features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 recommendations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and less popular courses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Update popularity metrics dynamically using real-time user feedback.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 the system at scale for larger online learning platforms.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C83E8A-FF7F-A377-097E-9214A73C44C2}"/>
              </a:ext>
            </a:extLst>
          </p:cNvPr>
          <p:cNvSpPr/>
          <p:nvPr/>
        </p:nvSpPr>
        <p:spPr>
          <a:xfrm>
            <a:off x="452284" y="386756"/>
            <a:ext cx="11287432" cy="622740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9708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4964E-5BCD-4A70-876B-F5028EE44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263217"/>
            <a:ext cx="10515600" cy="1325563"/>
          </a:xfrm>
        </p:spPr>
        <p:txBody>
          <a:bodyPr/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Application Interface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AB79-2E04-6293-F1BD-D8220CB97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8" y="4956491"/>
            <a:ext cx="11071122" cy="14901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user-friendly web interface was developed for course recommendation.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application allows users to enter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input.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Users can select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recommendations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generates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course recommendations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user interaction data.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Different users receive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course suggestions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interface displays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course list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clearly for the user.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1FCF51-985E-F4D6-D33B-6FEF36986218}"/>
              </a:ext>
            </a:extLst>
          </p:cNvPr>
          <p:cNvSpPr/>
          <p:nvPr/>
        </p:nvSpPr>
        <p:spPr>
          <a:xfrm>
            <a:off x="411982" y="291402"/>
            <a:ext cx="11455121" cy="620147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71ED87-12EC-C478-0F09-D211AFD31C6B}"/>
              </a:ext>
            </a:extLst>
          </p:cNvPr>
          <p:cNvSpPr/>
          <p:nvPr/>
        </p:nvSpPr>
        <p:spPr>
          <a:xfrm>
            <a:off x="832055" y="1027906"/>
            <a:ext cx="10223090" cy="383906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utoShape 2" descr="Uploaded image">
            <a:extLst>
              <a:ext uri="{FF2B5EF4-FFF2-40B4-BE49-F238E27FC236}">
                <a16:creationId xmlns:a16="http://schemas.microsoft.com/office/drawing/2014/main" id="{E5292536-3387-6B5E-08D1-A9EEEF54E1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    </a:t>
            </a:r>
            <a:endParaRPr lang="en-IN" dirty="0"/>
          </a:p>
        </p:txBody>
      </p:sp>
      <p:sp>
        <p:nvSpPr>
          <p:cNvPr id="8" name="AutoShape 4" descr="Uploaded image">
            <a:extLst>
              <a:ext uri="{FF2B5EF4-FFF2-40B4-BE49-F238E27FC236}">
                <a16:creationId xmlns:a16="http://schemas.microsoft.com/office/drawing/2014/main" id="{C6EE6834-BCC7-3BC7-AEE8-A11A5E2C8B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077D27C-17AE-CD88-B531-5EC751C459C8}"/>
              </a:ext>
            </a:extLst>
          </p:cNvPr>
          <p:cNvCxnSpPr/>
          <p:nvPr/>
        </p:nvCxnSpPr>
        <p:spPr>
          <a:xfrm>
            <a:off x="832054" y="4562168"/>
            <a:ext cx="102230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556822E-886A-E35A-80CB-9523B3568F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37" t="39023" r="1517" b="20605"/>
          <a:stretch>
            <a:fillRect/>
          </a:stretch>
        </p:blipFill>
        <p:spPr>
          <a:xfrm>
            <a:off x="832053" y="1027906"/>
            <a:ext cx="10227046" cy="386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948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15A43-64D4-1A39-0AA3-84629080C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B73F5-0336-55EA-E3AA-1BFBEE2F7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6286"/>
            <a:ext cx="10515600" cy="487067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Successfully developed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course recommendation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popularity-based recommendation approach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Courses are recommended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ratings, enrollment numbers, and feedback scores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model provides stable and reliable course suggestions.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is suitable for platforms with limited user-specific data.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project demonstrates how data-driven insights can support course discovery.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EF0DFF-BB07-4733-5CB7-601BFE2E58EE}"/>
              </a:ext>
            </a:extLst>
          </p:cNvPr>
          <p:cNvSpPr/>
          <p:nvPr/>
        </p:nvSpPr>
        <p:spPr>
          <a:xfrm>
            <a:off x="572421" y="375921"/>
            <a:ext cx="10892413" cy="593344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62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AD92-9063-189C-340D-D4FF18595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8270" y="2474555"/>
            <a:ext cx="8366022" cy="1349734"/>
          </a:xfrm>
        </p:spPr>
        <p:txBody>
          <a:bodyPr>
            <a:noAutofit/>
          </a:bodyPr>
          <a:lstStyle/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AF27C-C08B-388A-49CC-1CEDA3A15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8270" y="3428999"/>
            <a:ext cx="7735529" cy="2747963"/>
          </a:xfrm>
        </p:spPr>
        <p:txBody>
          <a:bodyPr/>
          <a:lstStyle/>
          <a:p>
            <a:pPr marL="3200400" lvl="7" indent="0"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C24147-E697-5838-92B6-9B84271555C9}"/>
              </a:ext>
            </a:extLst>
          </p:cNvPr>
          <p:cNvSpPr/>
          <p:nvPr/>
        </p:nvSpPr>
        <p:spPr>
          <a:xfrm>
            <a:off x="565354" y="479159"/>
            <a:ext cx="11067845" cy="588100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432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</TotalTime>
  <Words>1305</Words>
  <Application>Microsoft Office PowerPoint</Application>
  <PresentationFormat>Widescreen</PresentationFormat>
  <Paragraphs>116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Online Course Recommendation System </vt:lpstr>
      <vt:lpstr>Objective:</vt:lpstr>
      <vt:lpstr> Dataset Details: </vt:lpstr>
      <vt:lpstr>Features of the Dataset: </vt:lpstr>
      <vt:lpstr>Problem Statement </vt:lpstr>
      <vt:lpstr> Missing Values Analysis </vt:lpstr>
      <vt:lpstr> Features Distribution: </vt:lpstr>
      <vt:lpstr>Correlation Matrix: </vt:lpstr>
      <vt:lpstr>Outlier Detection:</vt:lpstr>
      <vt:lpstr>Data Preprocessing:  </vt:lpstr>
      <vt:lpstr> Model Building: </vt:lpstr>
      <vt:lpstr>Model Evaluation: </vt:lpstr>
      <vt:lpstr>Final Model Selection:</vt:lpstr>
      <vt:lpstr> Challenges Faced: </vt:lpstr>
      <vt:lpstr>Key Findings: </vt:lpstr>
      <vt:lpstr>Future Scope: </vt:lpstr>
      <vt:lpstr>Deployed Application Interface </vt:lpstr>
      <vt:lpstr>Conclusion: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 H</dc:creator>
  <cp:lastModifiedBy>swathi suresh</cp:lastModifiedBy>
  <cp:revision>13</cp:revision>
  <dcterms:created xsi:type="dcterms:W3CDTF">2025-11-24T15:54:57Z</dcterms:created>
  <dcterms:modified xsi:type="dcterms:W3CDTF">2026-01-09T05:41:07Z</dcterms:modified>
</cp:coreProperties>
</file>